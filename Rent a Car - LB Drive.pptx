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Inter" panose="020B0604020202020204" charset="0"/>
      <p:regular r:id="rId15"/>
    </p:embeddedFont>
    <p:embeddedFont>
      <p:font typeface="Neo Tech" panose="020B0604020202020204" charset="0"/>
      <p:regular r:id="rId16"/>
    </p:embeddedFont>
    <p:embeddedFont>
      <p:font typeface="Roboto" panose="02000000000000000000" pitchFamily="2" charset="0"/>
      <p:regular r:id="rId17"/>
      <p:bold r:id="rId18"/>
      <p:italic r:id="rId19"/>
    </p:embeddedFont>
    <p:embeddedFont>
      <p:font typeface="Roboto Bold" panose="02000000000000000000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354266" y="79974"/>
            <a:ext cx="18642266" cy="11674719"/>
          </a:xfrm>
          <a:custGeom>
            <a:avLst/>
            <a:gdLst/>
            <a:ahLst/>
            <a:cxnLst/>
            <a:rect l="l" t="t" r="r" b="b"/>
            <a:pathLst>
              <a:path w="18642266" h="11674719">
                <a:moveTo>
                  <a:pt x="18642266" y="11674719"/>
                </a:moveTo>
                <a:lnTo>
                  <a:pt x="0" y="11674719"/>
                </a:lnTo>
                <a:lnTo>
                  <a:pt x="0" y="0"/>
                </a:lnTo>
                <a:lnTo>
                  <a:pt x="18642266" y="0"/>
                </a:lnTo>
                <a:lnTo>
                  <a:pt x="18642266" y="116747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7267116" y="1847496"/>
            <a:ext cx="12578619" cy="8176784"/>
          </a:xfrm>
          <a:custGeom>
            <a:avLst/>
            <a:gdLst/>
            <a:ahLst/>
            <a:cxnLst/>
            <a:rect l="l" t="t" r="r" b="b"/>
            <a:pathLst>
              <a:path w="12578619" h="8176784">
                <a:moveTo>
                  <a:pt x="12578619" y="0"/>
                </a:moveTo>
                <a:lnTo>
                  <a:pt x="0" y="0"/>
                </a:lnTo>
                <a:lnTo>
                  <a:pt x="0" y="8176785"/>
                </a:lnTo>
                <a:lnTo>
                  <a:pt x="12578619" y="8176785"/>
                </a:lnTo>
                <a:lnTo>
                  <a:pt x="12578619" y="0"/>
                </a:lnTo>
                <a:close/>
              </a:path>
            </a:pathLst>
          </a:custGeom>
          <a:blipFill>
            <a:blip r:embed="rId4"/>
            <a:stretch>
              <a:fillRect l="-93394" t="-5806" r="-12695" b="-301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6074695" y="2786507"/>
            <a:ext cx="19988831" cy="10287000"/>
            <a:chOff x="0" y="0"/>
            <a:chExt cx="5264548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64548" cy="2709333"/>
            </a:xfrm>
            <a:custGeom>
              <a:avLst/>
              <a:gdLst/>
              <a:ahLst/>
              <a:cxnLst/>
              <a:rect l="l" t="t" r="r" b="b"/>
              <a:pathLst>
                <a:path w="5264548" h="2709333">
                  <a:moveTo>
                    <a:pt x="0" y="0"/>
                  </a:moveTo>
                  <a:lnTo>
                    <a:pt x="5264548" y="0"/>
                  </a:lnTo>
                  <a:lnTo>
                    <a:pt x="5264548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ECECEC">
                    <a:alpha val="70000"/>
                  </a:srgbClr>
                </a:gs>
                <a:gs pos="100000">
                  <a:srgbClr val="ECECEC">
                    <a:alpha val="28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26454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420642" y="2733021"/>
            <a:ext cx="36558" cy="4315480"/>
          </a:xfrm>
          <a:prstGeom prst="line">
            <a:avLst/>
          </a:prstGeom>
          <a:ln w="571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-354266" y="-131321"/>
            <a:ext cx="3938076" cy="2623743"/>
          </a:xfrm>
          <a:custGeom>
            <a:avLst/>
            <a:gdLst/>
            <a:ahLst/>
            <a:cxnLst/>
            <a:rect l="l" t="t" r="r" b="b"/>
            <a:pathLst>
              <a:path w="3938076" h="2623743">
                <a:moveTo>
                  <a:pt x="0" y="0"/>
                </a:moveTo>
                <a:lnTo>
                  <a:pt x="3938077" y="0"/>
                </a:lnTo>
                <a:lnTo>
                  <a:pt x="3938077" y="2623744"/>
                </a:lnTo>
                <a:lnTo>
                  <a:pt x="0" y="26237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2692448"/>
            <a:ext cx="10848831" cy="121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5"/>
              </a:lnSpc>
            </a:pPr>
            <a:r>
              <a:rPr lang="en-US" sz="7975" dirty="0">
                <a:solidFill>
                  <a:srgbClr val="1B1B1B"/>
                </a:solidFill>
                <a:latin typeface="Neo Tech"/>
                <a:ea typeface="Neo Tech"/>
                <a:cs typeface="Neo Tech"/>
                <a:sym typeface="Neo Tech"/>
              </a:rPr>
              <a:t>LB DRIVE - RENT A CAR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299350"/>
            <a:ext cx="1721495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endParaRPr lang="en-US" sz="3199" b="1" dirty="0">
              <a:solidFill>
                <a:srgbClr val="1B1B1B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3199"/>
              </a:lnSpc>
            </a:pPr>
            <a:endParaRPr lang="en-US" sz="3199" b="1" dirty="0">
              <a:solidFill>
                <a:srgbClr val="1B1B1B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3783330"/>
            <a:ext cx="8482459" cy="320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2999" b="1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TechWrap LB </a:t>
            </a:r>
          </a:p>
          <a:p>
            <a:pPr algn="l">
              <a:lnSpc>
                <a:spcPts val="5129"/>
              </a:lnSpc>
            </a:pPr>
            <a:r>
              <a:rPr lang="en-US" sz="2999" i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Software Development Department</a:t>
            </a:r>
          </a:p>
          <a:p>
            <a:pPr algn="l">
              <a:lnSpc>
                <a:spcPts val="5129"/>
              </a:lnSpc>
            </a:pPr>
            <a:endParaRPr lang="en-US" sz="2999" dirty="0">
              <a:solidFill>
                <a:srgbClr val="1B1B1B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5129"/>
              </a:lnSpc>
            </a:pPr>
            <a:r>
              <a:rPr lang="en-US" sz="2999" b="1" dirty="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Version: </a:t>
            </a:r>
            <a:r>
              <a:rPr lang="en-US" sz="2999" dirty="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28.3.26</a:t>
            </a:r>
          </a:p>
          <a:p>
            <a:pPr algn="l">
              <a:lnSpc>
                <a:spcPts val="5129"/>
              </a:lnSpc>
            </a:pPr>
            <a:r>
              <a:rPr lang="en-US" sz="2999" b="1" dirty="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Year: </a:t>
            </a:r>
            <a:r>
              <a:rPr lang="en-US" sz="2999" dirty="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732394" flipV="1">
            <a:off x="3501536" y="-545640"/>
            <a:ext cx="19493502" cy="12061605"/>
          </a:xfrm>
          <a:custGeom>
            <a:avLst/>
            <a:gdLst/>
            <a:ahLst/>
            <a:cxnLst/>
            <a:rect l="l" t="t" r="r" b="b"/>
            <a:pathLst>
              <a:path w="19493502" h="12061605">
                <a:moveTo>
                  <a:pt x="0" y="12061604"/>
                </a:moveTo>
                <a:lnTo>
                  <a:pt x="19493503" y="12061604"/>
                </a:lnTo>
                <a:lnTo>
                  <a:pt x="19493503" y="0"/>
                </a:lnTo>
                <a:lnTo>
                  <a:pt x="0" y="0"/>
                </a:lnTo>
                <a:lnTo>
                  <a:pt x="0" y="12061604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2567629"/>
            <a:ext cx="7095074" cy="0"/>
          </a:xfrm>
          <a:prstGeom prst="line">
            <a:avLst/>
          </a:prstGeom>
          <a:ln w="571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787635" y="2897318"/>
            <a:ext cx="14368363" cy="6609447"/>
          </a:xfrm>
          <a:custGeom>
            <a:avLst/>
            <a:gdLst/>
            <a:ahLst/>
            <a:cxnLst/>
            <a:rect l="l" t="t" r="r" b="b"/>
            <a:pathLst>
              <a:path w="14368363" h="6609447">
                <a:moveTo>
                  <a:pt x="0" y="0"/>
                </a:moveTo>
                <a:lnTo>
                  <a:pt x="14368362" y="0"/>
                </a:lnTo>
                <a:lnTo>
                  <a:pt x="14368362" y="6609447"/>
                </a:lnTo>
                <a:lnTo>
                  <a:pt x="0" y="66094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691964"/>
            <a:ext cx="10073556" cy="847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5599">
                <a:solidFill>
                  <a:srgbClr val="1B1B1B"/>
                </a:solidFill>
                <a:latin typeface="Neo Tech"/>
                <a:ea typeface="Neo Tech"/>
                <a:cs typeface="Neo Tech"/>
                <a:sym typeface="Neo Tech"/>
              </a:rPr>
              <a:t>TABLE OF CONTENTS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83031" y="2910528"/>
            <a:ext cx="6295264" cy="7087571"/>
            <a:chOff x="0" y="-76200"/>
            <a:chExt cx="8393684" cy="9450094"/>
          </a:xfrm>
        </p:grpSpPr>
        <p:grpSp>
          <p:nvGrpSpPr>
            <p:cNvPr id="7" name="Group 7"/>
            <p:cNvGrpSpPr/>
            <p:nvPr/>
          </p:nvGrpSpPr>
          <p:grpSpPr>
            <a:xfrm>
              <a:off x="822954" y="1313419"/>
              <a:ext cx="1087449" cy="1001358"/>
              <a:chOff x="0" y="0"/>
              <a:chExt cx="266943" cy="24581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66943" cy="245810"/>
              </a:xfrm>
              <a:custGeom>
                <a:avLst/>
                <a:gdLst/>
                <a:ahLst/>
                <a:cxnLst/>
                <a:rect l="l" t="t" r="r" b="b"/>
                <a:pathLst>
                  <a:path w="266943" h="245810">
                    <a:moveTo>
                      <a:pt x="122905" y="0"/>
                    </a:moveTo>
                    <a:lnTo>
                      <a:pt x="144038" y="0"/>
                    </a:lnTo>
                    <a:cubicBezTo>
                      <a:pt x="176635" y="0"/>
                      <a:pt x="207896" y="12949"/>
                      <a:pt x="230945" y="35998"/>
                    </a:cubicBezTo>
                    <a:cubicBezTo>
                      <a:pt x="253994" y="59047"/>
                      <a:pt x="266943" y="90308"/>
                      <a:pt x="266943" y="122905"/>
                    </a:cubicBezTo>
                    <a:lnTo>
                      <a:pt x="266943" y="122905"/>
                    </a:lnTo>
                    <a:cubicBezTo>
                      <a:pt x="266943" y="190783"/>
                      <a:pt x="211917" y="245810"/>
                      <a:pt x="144038" y="245810"/>
                    </a:cubicBezTo>
                    <a:lnTo>
                      <a:pt x="122905" y="245810"/>
                    </a:lnTo>
                    <a:cubicBezTo>
                      <a:pt x="90308" y="245810"/>
                      <a:pt x="59047" y="232861"/>
                      <a:pt x="35998" y="209812"/>
                    </a:cubicBezTo>
                    <a:cubicBezTo>
                      <a:pt x="12949" y="186763"/>
                      <a:pt x="0" y="155501"/>
                      <a:pt x="0" y="122905"/>
                    </a:cubicBezTo>
                    <a:lnTo>
                      <a:pt x="0" y="122905"/>
                    </a:lnTo>
                    <a:cubicBezTo>
                      <a:pt x="0" y="90308"/>
                      <a:pt x="12949" y="59047"/>
                      <a:pt x="35998" y="35998"/>
                    </a:cubicBezTo>
                    <a:cubicBezTo>
                      <a:pt x="59047" y="12949"/>
                      <a:pt x="90308" y="0"/>
                      <a:pt x="122905" y="0"/>
                    </a:cubicBezTo>
                    <a:close/>
                  </a:path>
                </a:pathLst>
              </a:custGeom>
              <a:solidFill>
                <a:srgbClr val="D4AF3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66943" cy="283910"/>
              </a:xfrm>
              <a:prstGeom prst="rect">
                <a:avLst/>
              </a:prstGeom>
            </p:spPr>
            <p:txBody>
              <a:bodyPr lIns="46987" tIns="46987" rIns="46987" bIns="46987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6672" y="1548663"/>
              <a:ext cx="2733357" cy="620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0"/>
                </a:lnSpc>
              </a:pPr>
              <a:r>
                <a:rPr lang="en-US" sz="3070">
                  <a:solidFill>
                    <a:srgbClr val="000000"/>
                  </a:solidFill>
                  <a:latin typeface="Neo Tech"/>
                  <a:ea typeface="Neo Tech"/>
                  <a:cs typeface="Neo Tech"/>
                  <a:sym typeface="Neo Tech"/>
                </a:rPr>
                <a:t>2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822954" y="2852999"/>
              <a:ext cx="1087449" cy="1001358"/>
              <a:chOff x="0" y="0"/>
              <a:chExt cx="266943" cy="24581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66943" cy="245810"/>
              </a:xfrm>
              <a:custGeom>
                <a:avLst/>
                <a:gdLst/>
                <a:ahLst/>
                <a:cxnLst/>
                <a:rect l="l" t="t" r="r" b="b"/>
                <a:pathLst>
                  <a:path w="266943" h="245810">
                    <a:moveTo>
                      <a:pt x="122905" y="0"/>
                    </a:moveTo>
                    <a:lnTo>
                      <a:pt x="144038" y="0"/>
                    </a:lnTo>
                    <a:cubicBezTo>
                      <a:pt x="176635" y="0"/>
                      <a:pt x="207896" y="12949"/>
                      <a:pt x="230945" y="35998"/>
                    </a:cubicBezTo>
                    <a:cubicBezTo>
                      <a:pt x="253994" y="59047"/>
                      <a:pt x="266943" y="90308"/>
                      <a:pt x="266943" y="122905"/>
                    </a:cubicBezTo>
                    <a:lnTo>
                      <a:pt x="266943" y="122905"/>
                    </a:lnTo>
                    <a:cubicBezTo>
                      <a:pt x="266943" y="190783"/>
                      <a:pt x="211917" y="245810"/>
                      <a:pt x="144038" y="245810"/>
                    </a:cubicBezTo>
                    <a:lnTo>
                      <a:pt x="122905" y="245810"/>
                    </a:lnTo>
                    <a:cubicBezTo>
                      <a:pt x="90308" y="245810"/>
                      <a:pt x="59047" y="232861"/>
                      <a:pt x="35998" y="209812"/>
                    </a:cubicBezTo>
                    <a:cubicBezTo>
                      <a:pt x="12949" y="186763"/>
                      <a:pt x="0" y="155501"/>
                      <a:pt x="0" y="122905"/>
                    </a:cubicBezTo>
                    <a:lnTo>
                      <a:pt x="0" y="122905"/>
                    </a:lnTo>
                    <a:cubicBezTo>
                      <a:pt x="0" y="90308"/>
                      <a:pt x="12949" y="59047"/>
                      <a:pt x="35998" y="35998"/>
                    </a:cubicBezTo>
                    <a:cubicBezTo>
                      <a:pt x="59047" y="12949"/>
                      <a:pt x="90308" y="0"/>
                      <a:pt x="122905" y="0"/>
                    </a:cubicBezTo>
                    <a:close/>
                  </a:path>
                </a:pathLst>
              </a:custGeom>
              <a:solidFill>
                <a:srgbClr val="D4AF3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266943" cy="283910"/>
              </a:xfrm>
              <a:prstGeom prst="rect">
                <a:avLst/>
              </a:prstGeom>
            </p:spPr>
            <p:txBody>
              <a:bodyPr lIns="46987" tIns="46987" rIns="46987" bIns="46987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26672" y="3120565"/>
              <a:ext cx="2733357" cy="620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0"/>
                </a:lnSpc>
              </a:pPr>
              <a:r>
                <a:rPr lang="en-US" sz="3070">
                  <a:solidFill>
                    <a:srgbClr val="000000"/>
                  </a:solidFill>
                  <a:latin typeface="Neo Tech"/>
                  <a:ea typeface="Neo Tech"/>
                  <a:cs typeface="Neo Tech"/>
                  <a:sym typeface="Neo Tech"/>
                </a:rPr>
                <a:t>3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96282" y="4312484"/>
              <a:ext cx="1087449" cy="1001358"/>
              <a:chOff x="0" y="0"/>
              <a:chExt cx="266943" cy="24581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66943" cy="245810"/>
              </a:xfrm>
              <a:custGeom>
                <a:avLst/>
                <a:gdLst/>
                <a:ahLst/>
                <a:cxnLst/>
                <a:rect l="l" t="t" r="r" b="b"/>
                <a:pathLst>
                  <a:path w="266943" h="245810">
                    <a:moveTo>
                      <a:pt x="122905" y="0"/>
                    </a:moveTo>
                    <a:lnTo>
                      <a:pt x="144038" y="0"/>
                    </a:lnTo>
                    <a:cubicBezTo>
                      <a:pt x="176635" y="0"/>
                      <a:pt x="207896" y="12949"/>
                      <a:pt x="230945" y="35998"/>
                    </a:cubicBezTo>
                    <a:cubicBezTo>
                      <a:pt x="253994" y="59047"/>
                      <a:pt x="266943" y="90308"/>
                      <a:pt x="266943" y="122905"/>
                    </a:cubicBezTo>
                    <a:lnTo>
                      <a:pt x="266943" y="122905"/>
                    </a:lnTo>
                    <a:cubicBezTo>
                      <a:pt x="266943" y="190783"/>
                      <a:pt x="211917" y="245810"/>
                      <a:pt x="144038" y="245810"/>
                    </a:cubicBezTo>
                    <a:lnTo>
                      <a:pt x="122905" y="245810"/>
                    </a:lnTo>
                    <a:cubicBezTo>
                      <a:pt x="90308" y="245810"/>
                      <a:pt x="59047" y="232861"/>
                      <a:pt x="35998" y="209812"/>
                    </a:cubicBezTo>
                    <a:cubicBezTo>
                      <a:pt x="12949" y="186763"/>
                      <a:pt x="0" y="155501"/>
                      <a:pt x="0" y="122905"/>
                    </a:cubicBezTo>
                    <a:lnTo>
                      <a:pt x="0" y="122905"/>
                    </a:lnTo>
                    <a:cubicBezTo>
                      <a:pt x="0" y="90308"/>
                      <a:pt x="12949" y="59047"/>
                      <a:pt x="35998" y="35998"/>
                    </a:cubicBezTo>
                    <a:cubicBezTo>
                      <a:pt x="59047" y="12949"/>
                      <a:pt x="90308" y="0"/>
                      <a:pt x="122905" y="0"/>
                    </a:cubicBezTo>
                    <a:close/>
                  </a:path>
                </a:pathLst>
              </a:custGeom>
              <a:solidFill>
                <a:srgbClr val="D4AF3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266943" cy="283910"/>
              </a:xfrm>
              <a:prstGeom prst="rect">
                <a:avLst/>
              </a:prstGeom>
            </p:spPr>
            <p:txBody>
              <a:bodyPr lIns="46987" tIns="46987" rIns="46987" bIns="46987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4559123"/>
              <a:ext cx="2733357" cy="620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0"/>
                </a:lnSpc>
              </a:pPr>
              <a:r>
                <a:rPr lang="en-US" sz="3070">
                  <a:solidFill>
                    <a:srgbClr val="000000"/>
                  </a:solidFill>
                  <a:latin typeface="Neo Tech"/>
                  <a:ea typeface="Neo Tech"/>
                  <a:cs typeface="Neo Tech"/>
                  <a:sym typeface="Neo Tech"/>
                </a:rPr>
                <a:t>4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22954" y="5642753"/>
              <a:ext cx="1087449" cy="1001358"/>
              <a:chOff x="0" y="0"/>
              <a:chExt cx="266943" cy="24581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66943" cy="245810"/>
              </a:xfrm>
              <a:custGeom>
                <a:avLst/>
                <a:gdLst/>
                <a:ahLst/>
                <a:cxnLst/>
                <a:rect l="l" t="t" r="r" b="b"/>
                <a:pathLst>
                  <a:path w="266943" h="245810">
                    <a:moveTo>
                      <a:pt x="122905" y="0"/>
                    </a:moveTo>
                    <a:lnTo>
                      <a:pt x="144038" y="0"/>
                    </a:lnTo>
                    <a:cubicBezTo>
                      <a:pt x="176635" y="0"/>
                      <a:pt x="207896" y="12949"/>
                      <a:pt x="230945" y="35998"/>
                    </a:cubicBezTo>
                    <a:cubicBezTo>
                      <a:pt x="253994" y="59047"/>
                      <a:pt x="266943" y="90308"/>
                      <a:pt x="266943" y="122905"/>
                    </a:cubicBezTo>
                    <a:lnTo>
                      <a:pt x="266943" y="122905"/>
                    </a:lnTo>
                    <a:cubicBezTo>
                      <a:pt x="266943" y="190783"/>
                      <a:pt x="211917" y="245810"/>
                      <a:pt x="144038" y="245810"/>
                    </a:cubicBezTo>
                    <a:lnTo>
                      <a:pt x="122905" y="245810"/>
                    </a:lnTo>
                    <a:cubicBezTo>
                      <a:pt x="90308" y="245810"/>
                      <a:pt x="59047" y="232861"/>
                      <a:pt x="35998" y="209812"/>
                    </a:cubicBezTo>
                    <a:cubicBezTo>
                      <a:pt x="12949" y="186763"/>
                      <a:pt x="0" y="155501"/>
                      <a:pt x="0" y="122905"/>
                    </a:cubicBezTo>
                    <a:lnTo>
                      <a:pt x="0" y="122905"/>
                    </a:lnTo>
                    <a:cubicBezTo>
                      <a:pt x="0" y="90308"/>
                      <a:pt x="12949" y="59047"/>
                      <a:pt x="35998" y="35998"/>
                    </a:cubicBezTo>
                    <a:cubicBezTo>
                      <a:pt x="59047" y="12949"/>
                      <a:pt x="90308" y="0"/>
                      <a:pt x="122905" y="0"/>
                    </a:cubicBezTo>
                    <a:close/>
                  </a:path>
                </a:pathLst>
              </a:custGeom>
              <a:solidFill>
                <a:srgbClr val="D4AF3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266943" cy="283910"/>
              </a:xfrm>
              <a:prstGeom prst="rect">
                <a:avLst/>
              </a:prstGeom>
            </p:spPr>
            <p:txBody>
              <a:bodyPr lIns="46987" tIns="46987" rIns="46987" bIns="46987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0" y="5914929"/>
              <a:ext cx="2733357" cy="620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0"/>
                </a:lnSpc>
              </a:pPr>
              <a:r>
                <a:rPr lang="en-US" sz="3070">
                  <a:solidFill>
                    <a:srgbClr val="000000"/>
                  </a:solidFill>
                  <a:latin typeface="Neo Tech"/>
                  <a:ea typeface="Neo Tech"/>
                  <a:cs typeface="Neo Tech"/>
                  <a:sym typeface="Neo Tech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83457" y="-76200"/>
              <a:ext cx="4499061" cy="8608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38"/>
                </a:lnSpc>
                <a:spcBef>
                  <a:spcPct val="0"/>
                </a:spcBef>
              </a:pPr>
              <a:r>
                <a:rPr lang="en-US" sz="3884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Introduction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83457" y="1662717"/>
              <a:ext cx="5127133" cy="860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38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95906" y="1390541"/>
              <a:ext cx="6197778" cy="8608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38"/>
                </a:lnSpc>
                <a:spcBef>
                  <a:spcPct val="0"/>
                </a:spcBef>
              </a:pPr>
              <a:r>
                <a:rPr lang="en-US" sz="3884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Problem It Solves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83457" y="2885132"/>
              <a:ext cx="5889808" cy="8608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38"/>
                </a:lnSpc>
                <a:spcBef>
                  <a:spcPct val="0"/>
                </a:spcBef>
              </a:pPr>
              <a:r>
                <a:rPr lang="en-US" sz="3884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Similar Platforms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83457" y="4344617"/>
              <a:ext cx="4551030" cy="8608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38"/>
                </a:lnSpc>
                <a:spcBef>
                  <a:spcPct val="0"/>
                </a:spcBef>
              </a:pPr>
              <a:r>
                <a:rPr lang="en-US" sz="3884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Added Values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822954" y="0"/>
              <a:ext cx="1087449" cy="1001358"/>
              <a:chOff x="0" y="0"/>
              <a:chExt cx="266943" cy="24581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66943" cy="245810"/>
              </a:xfrm>
              <a:custGeom>
                <a:avLst/>
                <a:gdLst/>
                <a:ahLst/>
                <a:cxnLst/>
                <a:rect l="l" t="t" r="r" b="b"/>
                <a:pathLst>
                  <a:path w="266943" h="245810">
                    <a:moveTo>
                      <a:pt x="122905" y="0"/>
                    </a:moveTo>
                    <a:lnTo>
                      <a:pt x="144038" y="0"/>
                    </a:lnTo>
                    <a:cubicBezTo>
                      <a:pt x="176635" y="0"/>
                      <a:pt x="207896" y="12949"/>
                      <a:pt x="230945" y="35998"/>
                    </a:cubicBezTo>
                    <a:cubicBezTo>
                      <a:pt x="253994" y="59047"/>
                      <a:pt x="266943" y="90308"/>
                      <a:pt x="266943" y="122905"/>
                    </a:cubicBezTo>
                    <a:lnTo>
                      <a:pt x="266943" y="122905"/>
                    </a:lnTo>
                    <a:cubicBezTo>
                      <a:pt x="266943" y="190783"/>
                      <a:pt x="211917" y="245810"/>
                      <a:pt x="144038" y="245810"/>
                    </a:cubicBezTo>
                    <a:lnTo>
                      <a:pt x="122905" y="245810"/>
                    </a:lnTo>
                    <a:cubicBezTo>
                      <a:pt x="90308" y="245810"/>
                      <a:pt x="59047" y="232861"/>
                      <a:pt x="35998" y="209812"/>
                    </a:cubicBezTo>
                    <a:cubicBezTo>
                      <a:pt x="12949" y="186763"/>
                      <a:pt x="0" y="155501"/>
                      <a:pt x="0" y="122905"/>
                    </a:cubicBezTo>
                    <a:lnTo>
                      <a:pt x="0" y="122905"/>
                    </a:lnTo>
                    <a:cubicBezTo>
                      <a:pt x="0" y="90308"/>
                      <a:pt x="12949" y="59047"/>
                      <a:pt x="35998" y="35998"/>
                    </a:cubicBezTo>
                    <a:cubicBezTo>
                      <a:pt x="59047" y="12949"/>
                      <a:pt x="90308" y="0"/>
                      <a:pt x="122905" y="0"/>
                    </a:cubicBezTo>
                    <a:close/>
                  </a:path>
                </a:pathLst>
              </a:custGeom>
              <a:solidFill>
                <a:srgbClr val="D4AF3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266943" cy="283910"/>
              </a:xfrm>
              <a:prstGeom prst="rect">
                <a:avLst/>
              </a:prstGeom>
            </p:spPr>
            <p:txBody>
              <a:bodyPr lIns="46987" tIns="46987" rIns="46987" bIns="46987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26672" y="246639"/>
              <a:ext cx="2733357" cy="620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0"/>
                </a:lnSpc>
              </a:pPr>
              <a:r>
                <a:rPr lang="en-US" sz="3070">
                  <a:solidFill>
                    <a:srgbClr val="000000"/>
                  </a:solidFill>
                  <a:latin typeface="Neo Tech"/>
                  <a:ea typeface="Neo Tech"/>
                  <a:cs typeface="Neo Tech"/>
                  <a:sym typeface="Neo Tech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89384" y="5707515"/>
              <a:ext cx="6083882" cy="860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38"/>
                </a:lnSpc>
                <a:spcBef>
                  <a:spcPct val="0"/>
                </a:spcBef>
              </a:pPr>
              <a:r>
                <a:rPr lang="en-US" sz="3884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Architecture Used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822954" y="6973022"/>
              <a:ext cx="1087449" cy="1001358"/>
              <a:chOff x="0" y="0"/>
              <a:chExt cx="266943" cy="24581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266943" cy="245810"/>
              </a:xfrm>
              <a:custGeom>
                <a:avLst/>
                <a:gdLst/>
                <a:ahLst/>
                <a:cxnLst/>
                <a:rect l="l" t="t" r="r" b="b"/>
                <a:pathLst>
                  <a:path w="266943" h="245810">
                    <a:moveTo>
                      <a:pt x="122905" y="0"/>
                    </a:moveTo>
                    <a:lnTo>
                      <a:pt x="144038" y="0"/>
                    </a:lnTo>
                    <a:cubicBezTo>
                      <a:pt x="176635" y="0"/>
                      <a:pt x="207896" y="12949"/>
                      <a:pt x="230945" y="35998"/>
                    </a:cubicBezTo>
                    <a:cubicBezTo>
                      <a:pt x="253994" y="59047"/>
                      <a:pt x="266943" y="90308"/>
                      <a:pt x="266943" y="122905"/>
                    </a:cubicBezTo>
                    <a:lnTo>
                      <a:pt x="266943" y="122905"/>
                    </a:lnTo>
                    <a:cubicBezTo>
                      <a:pt x="266943" y="190783"/>
                      <a:pt x="211917" y="245810"/>
                      <a:pt x="144038" y="245810"/>
                    </a:cubicBezTo>
                    <a:lnTo>
                      <a:pt x="122905" y="245810"/>
                    </a:lnTo>
                    <a:cubicBezTo>
                      <a:pt x="90308" y="245810"/>
                      <a:pt x="59047" y="232861"/>
                      <a:pt x="35998" y="209812"/>
                    </a:cubicBezTo>
                    <a:cubicBezTo>
                      <a:pt x="12949" y="186763"/>
                      <a:pt x="0" y="155501"/>
                      <a:pt x="0" y="122905"/>
                    </a:cubicBezTo>
                    <a:lnTo>
                      <a:pt x="0" y="122905"/>
                    </a:lnTo>
                    <a:cubicBezTo>
                      <a:pt x="0" y="90308"/>
                      <a:pt x="12949" y="59047"/>
                      <a:pt x="35998" y="35998"/>
                    </a:cubicBezTo>
                    <a:cubicBezTo>
                      <a:pt x="59047" y="12949"/>
                      <a:pt x="90308" y="0"/>
                      <a:pt x="122905" y="0"/>
                    </a:cubicBezTo>
                    <a:close/>
                  </a:path>
                </a:pathLst>
              </a:custGeom>
              <a:solidFill>
                <a:srgbClr val="D4AF3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266943" cy="283910"/>
              </a:xfrm>
              <a:prstGeom prst="rect">
                <a:avLst/>
              </a:prstGeom>
            </p:spPr>
            <p:txBody>
              <a:bodyPr lIns="46987" tIns="46987" rIns="46987" bIns="46987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0" y="7245199"/>
              <a:ext cx="2733357" cy="620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0"/>
                </a:lnSpc>
              </a:pPr>
              <a:r>
                <a:rPr lang="en-US" sz="3070">
                  <a:solidFill>
                    <a:srgbClr val="000000"/>
                  </a:solidFill>
                  <a:latin typeface="Neo Tech"/>
                  <a:ea typeface="Neo Tech"/>
                  <a:cs typeface="Neo Tech"/>
                  <a:sym typeface="Neo Tech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95906" y="7037785"/>
              <a:ext cx="5977359" cy="860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38"/>
                </a:lnSpc>
                <a:spcBef>
                  <a:spcPct val="0"/>
                </a:spcBef>
              </a:pPr>
              <a:r>
                <a:rPr lang="en-US" sz="388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Technologies Used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808499" y="8406180"/>
              <a:ext cx="1050913" cy="967714"/>
              <a:chOff x="0" y="0"/>
              <a:chExt cx="266943" cy="24581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266943" cy="245810"/>
              </a:xfrm>
              <a:custGeom>
                <a:avLst/>
                <a:gdLst/>
                <a:ahLst/>
                <a:cxnLst/>
                <a:rect l="l" t="t" r="r" b="b"/>
                <a:pathLst>
                  <a:path w="266943" h="245810">
                    <a:moveTo>
                      <a:pt x="122905" y="0"/>
                    </a:moveTo>
                    <a:lnTo>
                      <a:pt x="144038" y="0"/>
                    </a:lnTo>
                    <a:cubicBezTo>
                      <a:pt x="176635" y="0"/>
                      <a:pt x="207896" y="12949"/>
                      <a:pt x="230945" y="35998"/>
                    </a:cubicBezTo>
                    <a:cubicBezTo>
                      <a:pt x="253994" y="59047"/>
                      <a:pt x="266943" y="90308"/>
                      <a:pt x="266943" y="122905"/>
                    </a:cubicBezTo>
                    <a:lnTo>
                      <a:pt x="266943" y="122905"/>
                    </a:lnTo>
                    <a:cubicBezTo>
                      <a:pt x="266943" y="190783"/>
                      <a:pt x="211917" y="245810"/>
                      <a:pt x="144038" y="245810"/>
                    </a:cubicBezTo>
                    <a:lnTo>
                      <a:pt x="122905" y="245810"/>
                    </a:lnTo>
                    <a:cubicBezTo>
                      <a:pt x="90308" y="245810"/>
                      <a:pt x="59047" y="232861"/>
                      <a:pt x="35998" y="209812"/>
                    </a:cubicBezTo>
                    <a:cubicBezTo>
                      <a:pt x="12949" y="186763"/>
                      <a:pt x="0" y="155501"/>
                      <a:pt x="0" y="122905"/>
                    </a:cubicBezTo>
                    <a:lnTo>
                      <a:pt x="0" y="122905"/>
                    </a:lnTo>
                    <a:cubicBezTo>
                      <a:pt x="0" y="90308"/>
                      <a:pt x="12949" y="59047"/>
                      <a:pt x="35998" y="35998"/>
                    </a:cubicBezTo>
                    <a:cubicBezTo>
                      <a:pt x="59047" y="12949"/>
                      <a:pt x="90308" y="0"/>
                      <a:pt x="122905" y="0"/>
                    </a:cubicBezTo>
                    <a:close/>
                  </a:path>
                </a:pathLst>
              </a:custGeom>
              <a:solidFill>
                <a:srgbClr val="D4AF3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266943" cy="283910"/>
              </a:xfrm>
              <a:prstGeom prst="rect">
                <a:avLst/>
              </a:prstGeom>
            </p:spPr>
            <p:txBody>
              <a:bodyPr lIns="45409" tIns="45409" rIns="45409" bIns="45409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3194" y="8659687"/>
              <a:ext cx="2641522" cy="609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67"/>
                </a:lnSpc>
              </a:pPr>
              <a:r>
                <a:rPr lang="en-US" sz="2967">
                  <a:solidFill>
                    <a:srgbClr val="000000"/>
                  </a:solidFill>
                  <a:latin typeface="Neo Tech"/>
                  <a:ea typeface="Neo Tech"/>
                  <a:cs typeface="Neo Tech"/>
                  <a:sym typeface="Neo Tech"/>
                </a:rPr>
                <a:t>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52342" y="8421491"/>
              <a:ext cx="4325043" cy="860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38"/>
                </a:lnSpc>
                <a:spcBef>
                  <a:spcPct val="0"/>
                </a:spcBef>
              </a:pPr>
              <a:r>
                <a:rPr lang="en-US" sz="388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Live Demo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3031" y="365436"/>
            <a:ext cx="3230252" cy="1326528"/>
            <a:chOff x="0" y="0"/>
            <a:chExt cx="4307003" cy="1768705"/>
          </a:xfrm>
        </p:grpSpPr>
        <p:sp>
          <p:nvSpPr>
            <p:cNvPr id="44" name="TextBox 44"/>
            <p:cNvSpPr txBox="1"/>
            <p:nvPr/>
          </p:nvSpPr>
          <p:spPr>
            <a:xfrm>
              <a:off x="2289688" y="603047"/>
              <a:ext cx="2017316" cy="664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sz="3226">
                  <a:solidFill>
                    <a:srgbClr val="1B1B1B"/>
                  </a:solidFill>
                  <a:latin typeface="Neo Tech"/>
                  <a:ea typeface="Neo Tech"/>
                  <a:cs typeface="Neo Tech"/>
                  <a:sym typeface="Neo Tech"/>
                </a:rPr>
                <a:t>LB Drive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0"/>
              <a:ext cx="2654716" cy="1768705"/>
            </a:xfrm>
            <a:custGeom>
              <a:avLst/>
              <a:gdLst/>
              <a:ahLst/>
              <a:cxnLst/>
              <a:rect l="l" t="t" r="r" b="b"/>
              <a:pathLst>
                <a:path w="2654716" h="1768705">
                  <a:moveTo>
                    <a:pt x="0" y="0"/>
                  </a:moveTo>
                  <a:lnTo>
                    <a:pt x="2654716" y="0"/>
                  </a:lnTo>
                  <a:lnTo>
                    <a:pt x="2654716" y="1768705"/>
                  </a:lnTo>
                  <a:lnTo>
                    <a:pt x="0" y="17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748073">
            <a:off x="4421472" y="-1752673"/>
            <a:ext cx="19011440" cy="11905914"/>
          </a:xfrm>
          <a:custGeom>
            <a:avLst/>
            <a:gdLst/>
            <a:ahLst/>
            <a:cxnLst/>
            <a:rect l="l" t="t" r="r" b="b"/>
            <a:pathLst>
              <a:path w="19011440" h="11905914">
                <a:moveTo>
                  <a:pt x="0" y="0"/>
                </a:moveTo>
                <a:lnTo>
                  <a:pt x="19011439" y="0"/>
                </a:lnTo>
                <a:lnTo>
                  <a:pt x="19011439" y="11905914"/>
                </a:lnTo>
                <a:lnTo>
                  <a:pt x="0" y="119059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530203" y="3032455"/>
            <a:ext cx="4915244" cy="0"/>
          </a:xfrm>
          <a:prstGeom prst="line">
            <a:avLst/>
          </a:prstGeom>
          <a:ln w="571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530203" y="2185366"/>
            <a:ext cx="6242645" cy="847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5599">
                <a:solidFill>
                  <a:srgbClr val="1B1B1B"/>
                </a:solidFill>
                <a:latin typeface="Neo Tech"/>
                <a:ea typeface="Neo Tech"/>
                <a:cs typeface="Neo Tech"/>
                <a:sym typeface="Neo Tech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1987" y="3451555"/>
            <a:ext cx="9566387" cy="5478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8821" lvl="1" indent="-399411" algn="just">
              <a:lnSpc>
                <a:spcPts val="5401"/>
              </a:lnSpc>
              <a:buFont typeface="Arial"/>
              <a:buChar char="•"/>
            </a:pPr>
            <a:r>
              <a:rPr lang="en-US" sz="36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Identified gap in Lebanese car rental market</a:t>
            </a:r>
          </a:p>
          <a:p>
            <a:pPr marL="798821" lvl="1" indent="-399411" algn="just">
              <a:lnSpc>
                <a:spcPts val="5401"/>
              </a:lnSpc>
              <a:buFont typeface="Arial"/>
              <a:buChar char="•"/>
            </a:pPr>
            <a:r>
              <a:rPr lang="en-US" sz="36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Most companies rely on manual systems</a:t>
            </a:r>
          </a:p>
          <a:p>
            <a:pPr marL="798821" lvl="1" indent="-399411" algn="just">
              <a:lnSpc>
                <a:spcPts val="5401"/>
              </a:lnSpc>
              <a:buFont typeface="Arial"/>
              <a:buChar char="•"/>
            </a:pPr>
            <a:r>
              <a:rPr lang="en-US" sz="36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Built LB Drive to digitize all operations end-to-end</a:t>
            </a:r>
          </a:p>
          <a:p>
            <a:pPr marL="798821" lvl="1" indent="-399411" algn="just">
              <a:lnSpc>
                <a:spcPts val="5401"/>
              </a:lnSpc>
              <a:buFont typeface="Arial"/>
              <a:buChar char="•"/>
            </a:pPr>
            <a:r>
              <a:rPr lang="en-US" sz="36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Powered with AI chatbot for customer service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9144000" y="4200284"/>
            <a:ext cx="9566387" cy="3730891"/>
          </a:xfrm>
          <a:custGeom>
            <a:avLst/>
            <a:gdLst/>
            <a:ahLst/>
            <a:cxnLst/>
            <a:rect l="l" t="t" r="r" b="b"/>
            <a:pathLst>
              <a:path w="9566387" h="3730891">
                <a:moveTo>
                  <a:pt x="9566387" y="0"/>
                </a:moveTo>
                <a:lnTo>
                  <a:pt x="0" y="0"/>
                </a:lnTo>
                <a:lnTo>
                  <a:pt x="0" y="3730891"/>
                </a:lnTo>
                <a:lnTo>
                  <a:pt x="9566387" y="3730891"/>
                </a:lnTo>
                <a:lnTo>
                  <a:pt x="9566387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365436"/>
            <a:ext cx="3230252" cy="1326528"/>
            <a:chOff x="0" y="0"/>
            <a:chExt cx="4307003" cy="1768705"/>
          </a:xfrm>
        </p:grpSpPr>
        <p:sp>
          <p:nvSpPr>
            <p:cNvPr id="8" name="TextBox 8"/>
            <p:cNvSpPr txBox="1"/>
            <p:nvPr/>
          </p:nvSpPr>
          <p:spPr>
            <a:xfrm>
              <a:off x="2289688" y="603047"/>
              <a:ext cx="2017316" cy="664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sz="3226">
                  <a:solidFill>
                    <a:srgbClr val="1B1B1B"/>
                  </a:solidFill>
                  <a:latin typeface="Neo Tech"/>
                  <a:ea typeface="Neo Tech"/>
                  <a:cs typeface="Neo Tech"/>
                  <a:sym typeface="Neo Tech"/>
                </a:rPr>
                <a:t>LB Drive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2654716" cy="1768705"/>
            </a:xfrm>
            <a:custGeom>
              <a:avLst/>
              <a:gdLst/>
              <a:ahLst/>
              <a:cxnLst/>
              <a:rect l="l" t="t" r="r" b="b"/>
              <a:pathLst>
                <a:path w="2654716" h="1768705">
                  <a:moveTo>
                    <a:pt x="0" y="0"/>
                  </a:moveTo>
                  <a:lnTo>
                    <a:pt x="2654716" y="0"/>
                  </a:lnTo>
                  <a:lnTo>
                    <a:pt x="2654716" y="1768705"/>
                  </a:lnTo>
                  <a:lnTo>
                    <a:pt x="0" y="17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  <p:transition spd="slow">
    <p:cover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6216529" flipH="1" flipV="1">
            <a:off x="3567530" y="-3832550"/>
            <a:ext cx="19011440" cy="12876170"/>
          </a:xfrm>
          <a:custGeom>
            <a:avLst/>
            <a:gdLst/>
            <a:ahLst/>
            <a:cxnLst/>
            <a:rect l="l" t="t" r="r" b="b"/>
            <a:pathLst>
              <a:path w="19011440" h="11905914">
                <a:moveTo>
                  <a:pt x="19011440" y="0"/>
                </a:moveTo>
                <a:lnTo>
                  <a:pt x="0" y="0"/>
                </a:lnTo>
                <a:lnTo>
                  <a:pt x="0" y="11905914"/>
                </a:lnTo>
                <a:lnTo>
                  <a:pt x="19011440" y="11905914"/>
                </a:lnTo>
                <a:lnTo>
                  <a:pt x="1901144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AutoShape 2"/>
          <p:cNvSpPr/>
          <p:nvPr/>
        </p:nvSpPr>
        <p:spPr>
          <a:xfrm>
            <a:off x="1028700" y="3057656"/>
            <a:ext cx="7101197" cy="0"/>
          </a:xfrm>
          <a:prstGeom prst="line">
            <a:avLst/>
          </a:prstGeom>
          <a:ln w="571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2181992"/>
            <a:ext cx="7426032" cy="847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5599">
                <a:solidFill>
                  <a:srgbClr val="1B1B1B"/>
                </a:solidFill>
                <a:latin typeface="Neo Tech"/>
                <a:ea typeface="Neo Tech"/>
                <a:cs typeface="Neo Tech"/>
                <a:sym typeface="Neo Tech"/>
              </a:rPr>
              <a:t>PROBLEMS IT SOLVES</a:t>
            </a:r>
          </a:p>
        </p:txBody>
      </p:sp>
      <p:sp>
        <p:nvSpPr>
          <p:cNvPr id="5" name="Freeform 5"/>
          <p:cNvSpPr/>
          <p:nvPr/>
        </p:nvSpPr>
        <p:spPr>
          <a:xfrm>
            <a:off x="7780762" y="4434613"/>
            <a:ext cx="12418858" cy="5852387"/>
          </a:xfrm>
          <a:custGeom>
            <a:avLst/>
            <a:gdLst/>
            <a:ahLst/>
            <a:cxnLst/>
            <a:rect l="l" t="t" r="r" b="b"/>
            <a:pathLst>
              <a:path w="12418858" h="5852387">
                <a:moveTo>
                  <a:pt x="0" y="0"/>
                </a:moveTo>
                <a:lnTo>
                  <a:pt x="12418859" y="0"/>
                </a:lnTo>
                <a:lnTo>
                  <a:pt x="12418859" y="5852387"/>
                </a:lnTo>
                <a:lnTo>
                  <a:pt x="0" y="585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11736" y="3599530"/>
            <a:ext cx="8259961" cy="531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770" lvl="1" indent="-453385" algn="l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Manual booking process</a:t>
            </a:r>
          </a:p>
          <a:p>
            <a:pPr marL="906770" lvl="1" indent="-453385" algn="l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Limited automation</a:t>
            </a:r>
          </a:p>
          <a:p>
            <a:pPr marL="906770" lvl="1" indent="-453385" algn="l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Scattered management</a:t>
            </a:r>
          </a:p>
          <a:p>
            <a:pPr marL="906770" lvl="1" indent="-453385" algn="l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No real-time tracking</a:t>
            </a:r>
          </a:p>
          <a:p>
            <a:pPr marL="906770" lvl="1" indent="-453385" algn="l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Weak financial monitoring</a:t>
            </a:r>
          </a:p>
          <a:p>
            <a:pPr marL="906770" lvl="1" indent="-453385" algn="l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Poor customer communication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83031" y="365436"/>
            <a:ext cx="3230252" cy="1326528"/>
            <a:chOff x="0" y="0"/>
            <a:chExt cx="4307003" cy="1768705"/>
          </a:xfrm>
        </p:grpSpPr>
        <p:sp>
          <p:nvSpPr>
            <p:cNvPr id="8" name="TextBox 8"/>
            <p:cNvSpPr txBox="1"/>
            <p:nvPr/>
          </p:nvSpPr>
          <p:spPr>
            <a:xfrm>
              <a:off x="2289688" y="603047"/>
              <a:ext cx="2017316" cy="664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sz="3226">
                  <a:solidFill>
                    <a:srgbClr val="1B1B1B"/>
                  </a:solidFill>
                  <a:latin typeface="Neo Tech"/>
                  <a:ea typeface="Neo Tech"/>
                  <a:cs typeface="Neo Tech"/>
                  <a:sym typeface="Neo Tech"/>
                </a:rPr>
                <a:t>LB Drive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2654716" cy="1768705"/>
            </a:xfrm>
            <a:custGeom>
              <a:avLst/>
              <a:gdLst/>
              <a:ahLst/>
              <a:cxnLst/>
              <a:rect l="l" t="t" r="r" b="b"/>
              <a:pathLst>
                <a:path w="2654716" h="1768705">
                  <a:moveTo>
                    <a:pt x="0" y="0"/>
                  </a:moveTo>
                  <a:lnTo>
                    <a:pt x="2654716" y="0"/>
                  </a:lnTo>
                  <a:lnTo>
                    <a:pt x="2654716" y="1768705"/>
                  </a:lnTo>
                  <a:lnTo>
                    <a:pt x="0" y="17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flipH="1">
            <a:off x="8871697" y="4137116"/>
            <a:ext cx="9172192" cy="3932577"/>
          </a:xfrm>
          <a:custGeom>
            <a:avLst/>
            <a:gdLst/>
            <a:ahLst/>
            <a:cxnLst/>
            <a:rect l="l" t="t" r="r" b="b"/>
            <a:pathLst>
              <a:path w="9172192" h="3932577">
                <a:moveTo>
                  <a:pt x="9172192" y="0"/>
                </a:moveTo>
                <a:lnTo>
                  <a:pt x="0" y="0"/>
                </a:lnTo>
                <a:lnTo>
                  <a:pt x="0" y="3932577"/>
                </a:lnTo>
                <a:lnTo>
                  <a:pt x="9172192" y="3932577"/>
                </a:lnTo>
                <a:lnTo>
                  <a:pt x="9172192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691964"/>
            <a:ext cx="7272346" cy="847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5599">
                <a:solidFill>
                  <a:srgbClr val="1B1B1B"/>
                </a:solidFill>
                <a:latin typeface="Neo Tech"/>
                <a:ea typeface="Neo Tech"/>
                <a:cs typeface="Neo Tech"/>
                <a:sym typeface="Neo Tech"/>
              </a:rPr>
              <a:t>SIMILAR PLATFORMS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2539054"/>
            <a:ext cx="7084502" cy="0"/>
          </a:xfrm>
          <a:prstGeom prst="line">
            <a:avLst/>
          </a:prstGeom>
          <a:ln w="571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495475" y="365436"/>
            <a:ext cx="3230252" cy="1326528"/>
            <a:chOff x="0" y="0"/>
            <a:chExt cx="4307003" cy="1768705"/>
          </a:xfrm>
        </p:grpSpPr>
        <p:sp>
          <p:nvSpPr>
            <p:cNvPr id="5" name="TextBox 5"/>
            <p:cNvSpPr txBox="1"/>
            <p:nvPr/>
          </p:nvSpPr>
          <p:spPr>
            <a:xfrm>
              <a:off x="2289688" y="603047"/>
              <a:ext cx="2017316" cy="664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sz="3226">
                  <a:solidFill>
                    <a:srgbClr val="1B1B1B"/>
                  </a:solidFill>
                  <a:latin typeface="Neo Tech"/>
                  <a:ea typeface="Neo Tech"/>
                  <a:cs typeface="Neo Tech"/>
                  <a:sym typeface="Neo Tech"/>
                </a:rPr>
                <a:t>LB Drive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2654716" cy="1768705"/>
            </a:xfrm>
            <a:custGeom>
              <a:avLst/>
              <a:gdLst/>
              <a:ahLst/>
              <a:cxnLst/>
              <a:rect l="l" t="t" r="r" b="b"/>
              <a:pathLst>
                <a:path w="2654716" h="1768705">
                  <a:moveTo>
                    <a:pt x="0" y="0"/>
                  </a:moveTo>
                  <a:lnTo>
                    <a:pt x="2654716" y="0"/>
                  </a:lnTo>
                  <a:lnTo>
                    <a:pt x="2654716" y="1768705"/>
                  </a:lnTo>
                  <a:lnTo>
                    <a:pt x="0" y="17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495475" y="3334283"/>
            <a:ext cx="3612308" cy="668946"/>
          </a:xfrm>
          <a:custGeom>
            <a:avLst/>
            <a:gdLst/>
            <a:ahLst/>
            <a:cxnLst/>
            <a:rect l="l" t="t" r="r" b="b"/>
            <a:pathLst>
              <a:path w="3612308" h="668946">
                <a:moveTo>
                  <a:pt x="0" y="0"/>
                </a:moveTo>
                <a:lnTo>
                  <a:pt x="3612308" y="0"/>
                </a:lnTo>
                <a:lnTo>
                  <a:pt x="3612308" y="668946"/>
                </a:lnTo>
                <a:lnTo>
                  <a:pt x="0" y="6689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181824" y="3015820"/>
            <a:ext cx="3184321" cy="1306388"/>
          </a:xfrm>
          <a:custGeom>
            <a:avLst/>
            <a:gdLst/>
            <a:ahLst/>
            <a:cxnLst/>
            <a:rect l="l" t="t" r="r" b="b"/>
            <a:pathLst>
              <a:path w="3184321" h="1306388">
                <a:moveTo>
                  <a:pt x="0" y="0"/>
                </a:moveTo>
                <a:lnTo>
                  <a:pt x="3184321" y="0"/>
                </a:lnTo>
                <a:lnTo>
                  <a:pt x="3184321" y="1306388"/>
                </a:lnTo>
                <a:lnTo>
                  <a:pt x="0" y="13063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615627" y="2857633"/>
            <a:ext cx="2884908" cy="1622761"/>
          </a:xfrm>
          <a:custGeom>
            <a:avLst/>
            <a:gdLst/>
            <a:ahLst/>
            <a:cxnLst/>
            <a:rect l="l" t="t" r="r" b="b"/>
            <a:pathLst>
              <a:path w="2884908" h="1622761">
                <a:moveTo>
                  <a:pt x="0" y="0"/>
                </a:moveTo>
                <a:lnTo>
                  <a:pt x="2884908" y="0"/>
                </a:lnTo>
                <a:lnTo>
                  <a:pt x="2884908" y="1622761"/>
                </a:lnTo>
                <a:lnTo>
                  <a:pt x="0" y="16227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5056723" y="3015820"/>
            <a:ext cx="0" cy="7082633"/>
          </a:xfrm>
          <a:prstGeom prst="line">
            <a:avLst/>
          </a:prstGeom>
          <a:ln w="952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3037817" y="2939193"/>
            <a:ext cx="0" cy="6663040"/>
          </a:xfrm>
          <a:prstGeom prst="line">
            <a:avLst/>
          </a:prstGeom>
          <a:ln w="952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-195966" y="4693683"/>
            <a:ext cx="5017131" cy="4203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1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No online payment gateway</a:t>
            </a:r>
          </a:p>
          <a:p>
            <a:pPr marL="863591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Poor User Experience</a:t>
            </a:r>
          </a:p>
          <a:p>
            <a:pPr marL="863591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No real-time driver tracking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56723" y="4684158"/>
            <a:ext cx="8236117" cy="491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1" lvl="1" indent="-431801" algn="l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No verifying for driving license</a:t>
            </a:r>
          </a:p>
          <a:p>
            <a:pPr marL="863601" lvl="1" indent="-431801" algn="l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No tracking for in-person booking</a:t>
            </a:r>
          </a:p>
          <a:p>
            <a:pPr marL="863601" lvl="1" indent="-431801" algn="l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No real-time driver tracking </a:t>
            </a:r>
          </a:p>
          <a:p>
            <a:pPr marL="863601" lvl="1" indent="-431801" algn="l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No customer support from website</a:t>
            </a:r>
          </a:p>
          <a:p>
            <a:pPr marL="863601" lvl="1" indent="-431801" algn="l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Limited AI support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37817" y="4693683"/>
            <a:ext cx="4914801" cy="398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Customer support is WhatsApp link</a:t>
            </a:r>
          </a:p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No online payment</a:t>
            </a:r>
          </a:p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Customer can't sign up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1B1B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3057656"/>
            <a:ext cx="5041994" cy="0"/>
          </a:xfrm>
          <a:prstGeom prst="line">
            <a:avLst/>
          </a:prstGeom>
          <a:ln w="571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2181992"/>
            <a:ext cx="7426032" cy="847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5599">
                <a:solidFill>
                  <a:srgbClr val="1B1B1B"/>
                </a:solidFill>
                <a:latin typeface="Neo Tech"/>
                <a:ea typeface="Neo Tech"/>
                <a:cs typeface="Neo Tech"/>
                <a:sym typeface="Neo Tech"/>
              </a:rPr>
              <a:t>ADDED VALUES</a:t>
            </a:r>
          </a:p>
        </p:txBody>
      </p:sp>
      <p:sp>
        <p:nvSpPr>
          <p:cNvPr id="4" name="Freeform 4"/>
          <p:cNvSpPr/>
          <p:nvPr/>
        </p:nvSpPr>
        <p:spPr>
          <a:xfrm rot="4447239" flipH="1">
            <a:off x="-12746045" y="3492406"/>
            <a:ext cx="19011440" cy="11905914"/>
          </a:xfrm>
          <a:custGeom>
            <a:avLst/>
            <a:gdLst/>
            <a:ahLst/>
            <a:cxnLst/>
            <a:rect l="l" t="t" r="r" b="b"/>
            <a:pathLst>
              <a:path w="19011440" h="11905914">
                <a:moveTo>
                  <a:pt x="19011440" y="0"/>
                </a:moveTo>
                <a:lnTo>
                  <a:pt x="0" y="0"/>
                </a:lnTo>
                <a:lnTo>
                  <a:pt x="0" y="11905914"/>
                </a:lnTo>
                <a:lnTo>
                  <a:pt x="19011440" y="11905914"/>
                </a:lnTo>
                <a:lnTo>
                  <a:pt x="1901144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129897" y="2717011"/>
            <a:ext cx="9797802" cy="7106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770" lvl="1" indent="-453385" algn="l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Live customer support (chat)</a:t>
            </a:r>
          </a:p>
          <a:p>
            <a:pPr marL="906770" lvl="1" indent="-453385" algn="l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AI-powered assistance with real-time data</a:t>
            </a:r>
          </a:p>
          <a:p>
            <a:pPr marL="906770" lvl="1" indent="-453385" algn="l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Secure online payments</a:t>
            </a:r>
          </a:p>
          <a:p>
            <a:pPr marL="906770" lvl="1" indent="-453385" algn="l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Automated email &amp; notifications</a:t>
            </a:r>
          </a:p>
          <a:p>
            <a:pPr marL="906770" lvl="1" indent="-453385" algn="l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Real-time driver tracking</a:t>
            </a:r>
          </a:p>
          <a:p>
            <a:pPr marL="906770" lvl="1" indent="-453385" algn="l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Account-based booking management</a:t>
            </a:r>
          </a:p>
          <a:p>
            <a:pPr marL="906770" lvl="1" indent="-453385" algn="l">
              <a:lnSpc>
                <a:spcPts val="7055"/>
              </a:lnSpc>
              <a:buFont typeface="Arial"/>
              <a:buChar char="•"/>
            </a:pPr>
            <a:r>
              <a:rPr lang="en-US" sz="41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Online license verification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83031" y="365436"/>
            <a:ext cx="3230252" cy="1326528"/>
            <a:chOff x="0" y="0"/>
            <a:chExt cx="4307003" cy="1768705"/>
          </a:xfrm>
        </p:grpSpPr>
        <p:sp>
          <p:nvSpPr>
            <p:cNvPr id="7" name="TextBox 7"/>
            <p:cNvSpPr txBox="1"/>
            <p:nvPr/>
          </p:nvSpPr>
          <p:spPr>
            <a:xfrm>
              <a:off x="2289688" y="603047"/>
              <a:ext cx="2017316" cy="664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sz="3226">
                  <a:solidFill>
                    <a:srgbClr val="1B1B1B"/>
                  </a:solidFill>
                  <a:latin typeface="Neo Tech"/>
                  <a:ea typeface="Neo Tech"/>
                  <a:cs typeface="Neo Tech"/>
                  <a:sym typeface="Neo Tech"/>
                </a:rPr>
                <a:t>LB Drive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2654716" cy="1768705"/>
            </a:xfrm>
            <a:custGeom>
              <a:avLst/>
              <a:gdLst/>
              <a:ahLst/>
              <a:cxnLst/>
              <a:rect l="l" t="t" r="r" b="b"/>
              <a:pathLst>
                <a:path w="2654716" h="1768705">
                  <a:moveTo>
                    <a:pt x="0" y="0"/>
                  </a:moveTo>
                  <a:lnTo>
                    <a:pt x="2654716" y="0"/>
                  </a:lnTo>
                  <a:lnTo>
                    <a:pt x="2654716" y="1768705"/>
                  </a:lnTo>
                  <a:lnTo>
                    <a:pt x="0" y="17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933195" y="4683499"/>
            <a:ext cx="9587285" cy="5140307"/>
            <a:chOff x="0" y="0"/>
            <a:chExt cx="12783046" cy="6853743"/>
          </a:xfrm>
        </p:grpSpPr>
        <p:sp>
          <p:nvSpPr>
            <p:cNvPr id="10" name="Freeform 10"/>
            <p:cNvSpPr/>
            <p:nvPr/>
          </p:nvSpPr>
          <p:spPr>
            <a:xfrm rot="-244966">
              <a:off x="192265" y="576983"/>
              <a:ext cx="12398517" cy="5842801"/>
            </a:xfrm>
            <a:custGeom>
              <a:avLst/>
              <a:gdLst/>
              <a:ahLst/>
              <a:cxnLst/>
              <a:rect l="l" t="t" r="r" b="b"/>
              <a:pathLst>
                <a:path w="12398517" h="5842801">
                  <a:moveTo>
                    <a:pt x="0" y="0"/>
                  </a:moveTo>
                  <a:lnTo>
                    <a:pt x="12398517" y="0"/>
                  </a:lnTo>
                  <a:lnTo>
                    <a:pt x="12398517" y="5842801"/>
                  </a:lnTo>
                  <a:lnTo>
                    <a:pt x="0" y="5842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244966">
              <a:off x="2172774" y="321003"/>
              <a:ext cx="9157169" cy="3926136"/>
            </a:xfrm>
            <a:custGeom>
              <a:avLst/>
              <a:gdLst/>
              <a:ahLst/>
              <a:cxnLst/>
              <a:rect l="l" t="t" r="r" b="b"/>
              <a:pathLst>
                <a:path w="9157169" h="3926136">
                  <a:moveTo>
                    <a:pt x="0" y="0"/>
                  </a:moveTo>
                  <a:lnTo>
                    <a:pt x="9157169" y="0"/>
                  </a:lnTo>
                  <a:lnTo>
                    <a:pt x="9157169" y="3926136"/>
                  </a:lnTo>
                  <a:lnTo>
                    <a:pt x="0" y="392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691964"/>
            <a:ext cx="7272346" cy="847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5599">
                <a:solidFill>
                  <a:srgbClr val="1B1B1B"/>
                </a:solidFill>
                <a:latin typeface="Neo Tech"/>
                <a:ea typeface="Neo Tech"/>
                <a:cs typeface="Neo Tech"/>
                <a:sym typeface="Neo Tech"/>
              </a:rPr>
              <a:t>ROLES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2539054"/>
            <a:ext cx="2305295" cy="0"/>
          </a:xfrm>
          <a:prstGeom prst="line">
            <a:avLst/>
          </a:prstGeom>
          <a:ln w="571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495475" y="365436"/>
            <a:ext cx="3230252" cy="1326528"/>
            <a:chOff x="0" y="0"/>
            <a:chExt cx="4307003" cy="1768705"/>
          </a:xfrm>
        </p:grpSpPr>
        <p:sp>
          <p:nvSpPr>
            <p:cNvPr id="5" name="TextBox 5"/>
            <p:cNvSpPr txBox="1"/>
            <p:nvPr/>
          </p:nvSpPr>
          <p:spPr>
            <a:xfrm>
              <a:off x="2289688" y="603047"/>
              <a:ext cx="2017316" cy="664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sz="3226">
                  <a:solidFill>
                    <a:srgbClr val="1B1B1B"/>
                  </a:solidFill>
                  <a:latin typeface="Neo Tech"/>
                  <a:ea typeface="Neo Tech"/>
                  <a:cs typeface="Neo Tech"/>
                  <a:sym typeface="Neo Tech"/>
                </a:rPr>
                <a:t>LB Drive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2654716" cy="1768705"/>
            </a:xfrm>
            <a:custGeom>
              <a:avLst/>
              <a:gdLst/>
              <a:ahLst/>
              <a:cxnLst/>
              <a:rect l="l" t="t" r="r" b="b"/>
              <a:pathLst>
                <a:path w="2654716" h="1768705">
                  <a:moveTo>
                    <a:pt x="0" y="0"/>
                  </a:moveTo>
                  <a:lnTo>
                    <a:pt x="2654716" y="0"/>
                  </a:lnTo>
                  <a:lnTo>
                    <a:pt x="2654716" y="1768705"/>
                  </a:lnTo>
                  <a:lnTo>
                    <a:pt x="0" y="17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4933240" y="3299679"/>
            <a:ext cx="0" cy="6707685"/>
          </a:xfrm>
          <a:prstGeom prst="line">
            <a:avLst/>
          </a:prstGeom>
          <a:ln w="952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9696450" y="3299679"/>
            <a:ext cx="0" cy="6663040"/>
          </a:xfrm>
          <a:prstGeom prst="line">
            <a:avLst/>
          </a:prstGeom>
          <a:ln w="952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-19173" y="4693683"/>
            <a:ext cx="4652614" cy="561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1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Full system control</a:t>
            </a:r>
          </a:p>
          <a:p>
            <a:pPr marL="863591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Manages operations &amp; finances</a:t>
            </a:r>
          </a:p>
          <a:p>
            <a:pPr marL="863591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Monitors logs &amp; system settings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1B1B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972675" y="4693683"/>
            <a:ext cx="4010393" cy="398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Manages account &amp; profile</a:t>
            </a:r>
          </a:p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Creates &amp; tracks booking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1B1B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455" y="3299679"/>
            <a:ext cx="4828928" cy="767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64"/>
              </a:lnSpc>
            </a:pPr>
            <a:r>
              <a:rPr lang="en-US" sz="4000" b="1" dirty="0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Admin (manager)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09832" y="3213954"/>
            <a:ext cx="3353168" cy="79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4"/>
              </a:lnSpc>
            </a:pPr>
            <a:r>
              <a:rPr lang="en-US" sz="4688" b="1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Employee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485555" y="3213954"/>
            <a:ext cx="3353168" cy="79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4"/>
              </a:lnSpc>
            </a:pPr>
            <a:r>
              <a:rPr lang="en-US" sz="4688" b="1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Driver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4533180" y="3299679"/>
            <a:ext cx="0" cy="6663040"/>
          </a:xfrm>
          <a:prstGeom prst="line">
            <a:avLst/>
          </a:prstGeom>
          <a:ln w="952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48900" y="3213954"/>
            <a:ext cx="3353168" cy="79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4"/>
              </a:lnSpc>
            </a:pPr>
            <a:r>
              <a:rPr lang="en-US" sz="4688" b="1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56723" y="4695058"/>
            <a:ext cx="4087277" cy="4646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Validates customers</a:t>
            </a:r>
          </a:p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Creates &amp; manages bookings</a:t>
            </a:r>
          </a:p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Handles live support tickets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18419" y="4693683"/>
            <a:ext cx="3669581" cy="3313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Assigned to customer bookings</a:t>
            </a:r>
          </a:p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Executes trips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717526" flipV="1">
            <a:off x="4830947" y="820284"/>
            <a:ext cx="18008447" cy="11277790"/>
          </a:xfrm>
          <a:custGeom>
            <a:avLst/>
            <a:gdLst/>
            <a:ahLst/>
            <a:cxnLst/>
            <a:rect l="l" t="t" r="r" b="b"/>
            <a:pathLst>
              <a:path w="18008447" h="11277790">
                <a:moveTo>
                  <a:pt x="0" y="11277790"/>
                </a:moveTo>
                <a:lnTo>
                  <a:pt x="18008447" y="11277790"/>
                </a:lnTo>
                <a:lnTo>
                  <a:pt x="18008447" y="0"/>
                </a:lnTo>
                <a:lnTo>
                  <a:pt x="0" y="0"/>
                </a:lnTo>
                <a:lnTo>
                  <a:pt x="0" y="1127779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853645"/>
            <a:ext cx="7272346" cy="847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5599">
                <a:solidFill>
                  <a:srgbClr val="1B1B1B"/>
                </a:solidFill>
                <a:latin typeface="Neo Tech"/>
                <a:ea typeface="Neo Tech"/>
                <a:cs typeface="Neo Tech"/>
                <a:sym typeface="Neo Tech"/>
              </a:rPr>
              <a:t>ARCHITECTURE</a:t>
            </a:r>
          </a:p>
        </p:txBody>
      </p:sp>
      <p:sp>
        <p:nvSpPr>
          <p:cNvPr id="4" name="AutoShape 4"/>
          <p:cNvSpPr/>
          <p:nvPr/>
        </p:nvSpPr>
        <p:spPr>
          <a:xfrm>
            <a:off x="1090039" y="2700734"/>
            <a:ext cx="5012778" cy="106362"/>
          </a:xfrm>
          <a:prstGeom prst="line">
            <a:avLst/>
          </a:prstGeom>
          <a:ln w="571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415703" y="527116"/>
            <a:ext cx="3230252" cy="1326528"/>
            <a:chOff x="0" y="0"/>
            <a:chExt cx="4307003" cy="1768705"/>
          </a:xfrm>
        </p:grpSpPr>
        <p:sp>
          <p:nvSpPr>
            <p:cNvPr id="6" name="TextBox 6"/>
            <p:cNvSpPr txBox="1"/>
            <p:nvPr/>
          </p:nvSpPr>
          <p:spPr>
            <a:xfrm>
              <a:off x="2289688" y="603047"/>
              <a:ext cx="2017316" cy="664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sz="3226">
                  <a:solidFill>
                    <a:srgbClr val="1B1B1B"/>
                  </a:solidFill>
                  <a:latin typeface="Neo Tech"/>
                  <a:ea typeface="Neo Tech"/>
                  <a:cs typeface="Neo Tech"/>
                  <a:sym typeface="Neo Tech"/>
                </a:rPr>
                <a:t>LB Drive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654716" cy="1768705"/>
            </a:xfrm>
            <a:custGeom>
              <a:avLst/>
              <a:gdLst/>
              <a:ahLst/>
              <a:cxnLst/>
              <a:rect l="l" t="t" r="r" b="b"/>
              <a:pathLst>
                <a:path w="2654716" h="1768705">
                  <a:moveTo>
                    <a:pt x="0" y="0"/>
                  </a:moveTo>
                  <a:lnTo>
                    <a:pt x="2654716" y="0"/>
                  </a:lnTo>
                  <a:lnTo>
                    <a:pt x="2654716" y="1768705"/>
                  </a:lnTo>
                  <a:lnTo>
                    <a:pt x="0" y="17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94726" y="2991038"/>
            <a:ext cx="7903991" cy="6149088"/>
          </a:xfrm>
          <a:custGeom>
            <a:avLst/>
            <a:gdLst/>
            <a:ahLst/>
            <a:cxnLst/>
            <a:rect l="l" t="t" r="r" b="b"/>
            <a:pathLst>
              <a:path w="7903991" h="6149088">
                <a:moveTo>
                  <a:pt x="0" y="0"/>
                </a:moveTo>
                <a:lnTo>
                  <a:pt x="7903991" y="0"/>
                </a:lnTo>
                <a:lnTo>
                  <a:pt x="7903991" y="6149087"/>
                </a:lnTo>
                <a:lnTo>
                  <a:pt x="0" y="6149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293" t="-20996" r="-38021" b="-2999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724010" y="1853645"/>
            <a:ext cx="7272346" cy="847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5599">
                <a:solidFill>
                  <a:srgbClr val="1B1B1B"/>
                </a:solidFill>
                <a:latin typeface="Neo Tech"/>
                <a:ea typeface="Neo Tech"/>
                <a:cs typeface="Neo Tech"/>
                <a:sym typeface="Neo Tech"/>
              </a:rPr>
              <a:t>TECHNOLOGIES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724010" y="2700734"/>
            <a:ext cx="5014018" cy="0"/>
          </a:xfrm>
          <a:prstGeom prst="line">
            <a:avLst/>
          </a:prstGeom>
          <a:ln w="571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9461059" y="3082797"/>
            <a:ext cx="7535296" cy="394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2" lvl="1" indent="-410206" algn="l">
              <a:lnSpc>
                <a:spcPts val="6307"/>
              </a:lnSpc>
              <a:buFont typeface="Arial"/>
              <a:buChar char="•"/>
            </a:pPr>
            <a:r>
              <a:rPr lang="en-US" sz="37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Identity framework for authentication and authorization</a:t>
            </a:r>
          </a:p>
          <a:p>
            <a:pPr marL="820412" lvl="1" indent="-410206" algn="l">
              <a:lnSpc>
                <a:spcPts val="6307"/>
              </a:lnSpc>
              <a:buFont typeface="Arial"/>
              <a:buChar char="•"/>
            </a:pPr>
            <a:r>
              <a:rPr lang="en-US" sz="37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Entity framework for database</a:t>
            </a:r>
          </a:p>
          <a:p>
            <a:pPr marL="820412" lvl="1" indent="-410206" algn="l">
              <a:lnSpc>
                <a:spcPts val="6307"/>
              </a:lnSpc>
              <a:buFont typeface="Arial"/>
              <a:buChar char="•"/>
            </a:pPr>
            <a:r>
              <a:rPr lang="en-US" sz="37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ASP.NET CORE MVC 8.0 LTS</a:t>
            </a:r>
          </a:p>
        </p:txBody>
      </p:sp>
      <p:sp>
        <p:nvSpPr>
          <p:cNvPr id="12" name="AutoShape 12"/>
          <p:cNvSpPr/>
          <p:nvPr/>
        </p:nvSpPr>
        <p:spPr>
          <a:xfrm flipH="1">
            <a:off x="4037397" y="4847895"/>
            <a:ext cx="0" cy="59121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AutoShape 13"/>
          <p:cNvSpPr/>
          <p:nvPr/>
        </p:nvSpPr>
        <p:spPr>
          <a:xfrm flipH="1">
            <a:off x="4037397" y="6163574"/>
            <a:ext cx="0" cy="59121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4" name="AutoShape 14"/>
          <p:cNvSpPr/>
          <p:nvPr/>
        </p:nvSpPr>
        <p:spPr>
          <a:xfrm flipH="1">
            <a:off x="4037397" y="7478685"/>
            <a:ext cx="0" cy="59121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717526" flipV="1">
            <a:off x="4450813" y="-1096492"/>
            <a:ext cx="18008447" cy="11277790"/>
          </a:xfrm>
          <a:custGeom>
            <a:avLst/>
            <a:gdLst/>
            <a:ahLst/>
            <a:cxnLst/>
            <a:rect l="l" t="t" r="r" b="b"/>
            <a:pathLst>
              <a:path w="18008447" h="11277790">
                <a:moveTo>
                  <a:pt x="0" y="11277790"/>
                </a:moveTo>
                <a:lnTo>
                  <a:pt x="18008447" y="11277790"/>
                </a:lnTo>
                <a:lnTo>
                  <a:pt x="18008447" y="0"/>
                </a:lnTo>
                <a:lnTo>
                  <a:pt x="0" y="0"/>
                </a:lnTo>
                <a:lnTo>
                  <a:pt x="0" y="1127779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39420"/>
            <a:ext cx="7272346" cy="847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5599">
                <a:solidFill>
                  <a:srgbClr val="1B1B1B"/>
                </a:solidFill>
                <a:latin typeface="Neo Tech"/>
                <a:ea typeface="Neo Tech"/>
                <a:cs typeface="Neo Tech"/>
                <a:sym typeface="Neo Tech"/>
              </a:rPr>
              <a:t>EXTERNAL SERVICES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90039" y="3186509"/>
            <a:ext cx="6927290" cy="28575"/>
          </a:xfrm>
          <a:prstGeom prst="line">
            <a:avLst/>
          </a:prstGeom>
          <a:ln w="571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415703" y="527116"/>
            <a:ext cx="3230252" cy="1326528"/>
            <a:chOff x="0" y="0"/>
            <a:chExt cx="4307003" cy="1768705"/>
          </a:xfrm>
        </p:grpSpPr>
        <p:sp>
          <p:nvSpPr>
            <p:cNvPr id="6" name="TextBox 6"/>
            <p:cNvSpPr txBox="1"/>
            <p:nvPr/>
          </p:nvSpPr>
          <p:spPr>
            <a:xfrm>
              <a:off x="2289688" y="603047"/>
              <a:ext cx="2017316" cy="664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sz="3226">
                  <a:solidFill>
                    <a:srgbClr val="1B1B1B"/>
                  </a:solidFill>
                  <a:latin typeface="Neo Tech"/>
                  <a:ea typeface="Neo Tech"/>
                  <a:cs typeface="Neo Tech"/>
                  <a:sym typeface="Neo Tech"/>
                </a:rPr>
                <a:t>LB Drive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654716" cy="1768705"/>
            </a:xfrm>
            <a:custGeom>
              <a:avLst/>
              <a:gdLst/>
              <a:ahLst/>
              <a:cxnLst/>
              <a:rect l="l" t="t" r="r" b="b"/>
              <a:pathLst>
                <a:path w="2654716" h="1768705">
                  <a:moveTo>
                    <a:pt x="0" y="0"/>
                  </a:moveTo>
                  <a:lnTo>
                    <a:pt x="2654716" y="0"/>
                  </a:lnTo>
                  <a:lnTo>
                    <a:pt x="2654716" y="1768705"/>
                  </a:lnTo>
                  <a:lnTo>
                    <a:pt x="0" y="17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0462952" y="3273921"/>
            <a:ext cx="1667272" cy="1533779"/>
          </a:xfrm>
          <a:prstGeom prst="flowChartConnector">
            <a:avLst/>
          </a:prstGeom>
          <a:blipFill>
            <a:blip r:embed="rId5"/>
            <a:stretch>
              <a:fillRect l="-9831" t="-12900" r="-5186" b="-1212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462952" y="5256635"/>
            <a:ext cx="1667272" cy="1667272"/>
          </a:xfrm>
          <a:prstGeom prst="flowChartConnector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750122" y="5256635"/>
            <a:ext cx="1742008" cy="1742008"/>
          </a:xfrm>
          <a:prstGeom prst="flowChartConnector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462952" y="7185287"/>
            <a:ext cx="1667272" cy="1667272"/>
          </a:xfrm>
          <a:prstGeom prst="flowChartConnector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750122" y="7185287"/>
            <a:ext cx="1708601" cy="1708601"/>
          </a:xfrm>
          <a:prstGeom prst="flowChartConnector">
            <a:avLst/>
          </a:pr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50122" y="3134410"/>
            <a:ext cx="1673289" cy="1673289"/>
          </a:xfrm>
          <a:prstGeom prst="flowChartConnector">
            <a:avLst/>
          </a:pr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61387" y="3519884"/>
            <a:ext cx="6956078" cy="507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2" lvl="1" indent="-410206" algn="l">
              <a:lnSpc>
                <a:spcPts val="6763"/>
              </a:lnSpc>
              <a:buFont typeface="Arial"/>
              <a:buChar char="•"/>
            </a:pPr>
            <a:r>
              <a:rPr lang="en-US" sz="3799" dirty="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Gemini API for the chatbot</a:t>
            </a:r>
          </a:p>
          <a:p>
            <a:pPr marL="820412" lvl="1" indent="-410206" algn="l">
              <a:lnSpc>
                <a:spcPts val="6763"/>
              </a:lnSpc>
              <a:buFont typeface="Arial"/>
              <a:buChar char="•"/>
            </a:pPr>
            <a:r>
              <a:rPr lang="en-US" sz="3799" dirty="0" err="1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Mailjet</a:t>
            </a:r>
            <a:r>
              <a:rPr lang="en-US" sz="3799" dirty="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 for the email service</a:t>
            </a:r>
          </a:p>
          <a:p>
            <a:pPr marL="820412" lvl="1" indent="-410206" algn="l">
              <a:lnSpc>
                <a:spcPts val="6763"/>
              </a:lnSpc>
              <a:buFont typeface="Arial"/>
              <a:buChar char="•"/>
            </a:pPr>
            <a:r>
              <a:rPr lang="en-US" sz="3799" dirty="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Google maps API</a:t>
            </a:r>
          </a:p>
          <a:p>
            <a:pPr marL="820412" lvl="1" indent="-410206" algn="l">
              <a:lnSpc>
                <a:spcPts val="6763"/>
              </a:lnSpc>
              <a:buFont typeface="Arial"/>
              <a:buChar char="•"/>
            </a:pPr>
            <a:r>
              <a:rPr lang="en-US" sz="3799" dirty="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Stripe payment gateway API </a:t>
            </a:r>
          </a:p>
          <a:p>
            <a:pPr marL="820412" lvl="1" indent="-410206" algn="l">
              <a:lnSpc>
                <a:spcPts val="6763"/>
              </a:lnSpc>
              <a:buFont typeface="Arial"/>
              <a:buChar char="•"/>
            </a:pPr>
            <a:r>
              <a:rPr lang="en-US" sz="3799" dirty="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Cloud cluster for hosting </a:t>
            </a:r>
          </a:p>
          <a:p>
            <a:pPr marL="820412" lvl="1" indent="-410206" algn="l">
              <a:lnSpc>
                <a:spcPts val="6763"/>
              </a:lnSpc>
              <a:buFont typeface="Arial"/>
              <a:buChar char="•"/>
            </a:pPr>
            <a:r>
              <a:rPr lang="en-US" sz="3799" dirty="0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Cloud flare for the domain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260013" cy="10287000"/>
            <a:chOff x="0" y="0"/>
            <a:chExt cx="3846225" cy="32272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6225" cy="3227249"/>
            </a:xfrm>
            <a:custGeom>
              <a:avLst/>
              <a:gdLst/>
              <a:ahLst/>
              <a:cxnLst/>
              <a:rect l="l" t="t" r="r" b="b"/>
              <a:pathLst>
                <a:path w="3846225" h="3227249">
                  <a:moveTo>
                    <a:pt x="0" y="0"/>
                  </a:moveTo>
                  <a:lnTo>
                    <a:pt x="3846225" y="0"/>
                  </a:lnTo>
                  <a:lnTo>
                    <a:pt x="3846225" y="3227249"/>
                  </a:lnTo>
                  <a:lnTo>
                    <a:pt x="0" y="3227249"/>
                  </a:lnTo>
                  <a:close/>
                </a:path>
              </a:pathLst>
            </a:custGeom>
            <a:blipFill>
              <a:blip r:embed="rId2"/>
              <a:stretch>
                <a:fillRect l="-10802" r="-1080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530218" cy="10287000"/>
            <a:chOff x="0" y="0"/>
            <a:chExt cx="3300140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00140" cy="2709333"/>
            </a:xfrm>
            <a:custGeom>
              <a:avLst/>
              <a:gdLst/>
              <a:ahLst/>
              <a:cxnLst/>
              <a:rect l="l" t="t" r="r" b="b"/>
              <a:pathLst>
                <a:path w="3300140" h="2709333">
                  <a:moveTo>
                    <a:pt x="0" y="0"/>
                  </a:moveTo>
                  <a:lnTo>
                    <a:pt x="3300140" y="0"/>
                  </a:lnTo>
                  <a:lnTo>
                    <a:pt x="330014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ECECEC">
                    <a:alpha val="30500"/>
                  </a:srgbClr>
                </a:gs>
                <a:gs pos="100000">
                  <a:srgbClr val="ECECE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30014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12634108" y="6608046"/>
            <a:ext cx="4858466" cy="0"/>
          </a:xfrm>
          <a:prstGeom prst="line">
            <a:avLst/>
          </a:prstGeom>
          <a:ln w="571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2530218" y="3910648"/>
            <a:ext cx="4962356" cy="258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9"/>
              </a:lnSpc>
            </a:pPr>
            <a:r>
              <a:rPr lang="en-US" sz="6699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Now let’s move to the Live Demo</a:t>
            </a:r>
          </a:p>
        </p:txBody>
      </p:sp>
      <p:sp>
        <p:nvSpPr>
          <p:cNvPr id="9" name="Freeform 9"/>
          <p:cNvSpPr/>
          <p:nvPr/>
        </p:nvSpPr>
        <p:spPr>
          <a:xfrm rot="-6302260">
            <a:off x="-5142658" y="2455666"/>
            <a:ext cx="17511882" cy="10835477"/>
          </a:xfrm>
          <a:custGeom>
            <a:avLst/>
            <a:gdLst/>
            <a:ahLst/>
            <a:cxnLst/>
            <a:rect l="l" t="t" r="r" b="b"/>
            <a:pathLst>
              <a:path w="17511882" h="10835477">
                <a:moveTo>
                  <a:pt x="0" y="0"/>
                </a:moveTo>
                <a:lnTo>
                  <a:pt x="17511882" y="0"/>
                </a:lnTo>
                <a:lnTo>
                  <a:pt x="17511882" y="10835477"/>
                </a:lnTo>
                <a:lnTo>
                  <a:pt x="0" y="108354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280145" y="3310080"/>
            <a:ext cx="8938127" cy="6538782"/>
          </a:xfrm>
          <a:custGeom>
            <a:avLst/>
            <a:gdLst/>
            <a:ahLst/>
            <a:cxnLst/>
            <a:rect l="l" t="t" r="r" b="b"/>
            <a:pathLst>
              <a:path w="8938127" h="6538782">
                <a:moveTo>
                  <a:pt x="0" y="0"/>
                </a:moveTo>
                <a:lnTo>
                  <a:pt x="8938127" y="0"/>
                </a:lnTo>
                <a:lnTo>
                  <a:pt x="8938127" y="6538782"/>
                </a:lnTo>
                <a:lnTo>
                  <a:pt x="0" y="6538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001" t="-36028" r="-45087" b="-25092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383031" y="365436"/>
            <a:ext cx="3230252" cy="1326528"/>
            <a:chOff x="0" y="0"/>
            <a:chExt cx="4307003" cy="1768705"/>
          </a:xfrm>
        </p:grpSpPr>
        <p:sp>
          <p:nvSpPr>
            <p:cNvPr id="12" name="TextBox 12"/>
            <p:cNvSpPr txBox="1"/>
            <p:nvPr/>
          </p:nvSpPr>
          <p:spPr>
            <a:xfrm>
              <a:off x="2289688" y="603047"/>
              <a:ext cx="2017316" cy="664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sz="3226">
                  <a:solidFill>
                    <a:srgbClr val="1B1B1B"/>
                  </a:solidFill>
                  <a:latin typeface="Neo Tech"/>
                  <a:ea typeface="Neo Tech"/>
                  <a:cs typeface="Neo Tech"/>
                  <a:sym typeface="Neo Tech"/>
                </a:rPr>
                <a:t>LB Drive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654716" cy="1768705"/>
            </a:xfrm>
            <a:custGeom>
              <a:avLst/>
              <a:gdLst/>
              <a:ahLst/>
              <a:cxnLst/>
              <a:rect l="l" t="t" r="r" b="b"/>
              <a:pathLst>
                <a:path w="2654716" h="1768705">
                  <a:moveTo>
                    <a:pt x="0" y="0"/>
                  </a:moveTo>
                  <a:lnTo>
                    <a:pt x="2654716" y="0"/>
                  </a:lnTo>
                  <a:lnTo>
                    <a:pt x="2654716" y="1768705"/>
                  </a:lnTo>
                  <a:lnTo>
                    <a:pt x="0" y="17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4" name="AutoShape 14"/>
          <p:cNvSpPr/>
          <p:nvPr/>
        </p:nvSpPr>
        <p:spPr>
          <a:xfrm>
            <a:off x="12634108" y="3682048"/>
            <a:ext cx="4858466" cy="0"/>
          </a:xfrm>
          <a:prstGeom prst="line">
            <a:avLst/>
          </a:prstGeom>
          <a:ln w="571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08823" y="-1867438"/>
            <a:ext cx="21885606" cy="9438168"/>
          </a:xfrm>
          <a:custGeom>
            <a:avLst/>
            <a:gdLst/>
            <a:ahLst/>
            <a:cxnLst/>
            <a:rect l="l" t="t" r="r" b="b"/>
            <a:pathLst>
              <a:path w="21885606" h="9438168">
                <a:moveTo>
                  <a:pt x="21885606" y="0"/>
                </a:moveTo>
                <a:lnTo>
                  <a:pt x="0" y="0"/>
                </a:lnTo>
                <a:lnTo>
                  <a:pt x="0" y="9438168"/>
                </a:lnTo>
                <a:lnTo>
                  <a:pt x="21885606" y="9438168"/>
                </a:lnTo>
                <a:lnTo>
                  <a:pt x="218856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52009" y="0"/>
            <a:ext cx="15508862" cy="10287000"/>
            <a:chOff x="0" y="0"/>
            <a:chExt cx="4084639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84639" cy="2709333"/>
            </a:xfrm>
            <a:custGeom>
              <a:avLst/>
              <a:gdLst/>
              <a:ahLst/>
              <a:cxnLst/>
              <a:rect l="l" t="t" r="r" b="b"/>
              <a:pathLst>
                <a:path w="4084639" h="2709333">
                  <a:moveTo>
                    <a:pt x="0" y="0"/>
                  </a:moveTo>
                  <a:lnTo>
                    <a:pt x="4084639" y="0"/>
                  </a:lnTo>
                  <a:lnTo>
                    <a:pt x="40846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ECECEC">
                    <a:alpha val="100000"/>
                  </a:srgbClr>
                </a:gs>
                <a:gs pos="100000">
                  <a:srgbClr val="ECECEC">
                    <a:alpha val="23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08463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028700" y="3693163"/>
            <a:ext cx="0" cy="2771597"/>
          </a:xfrm>
          <a:prstGeom prst="line">
            <a:avLst/>
          </a:prstGeom>
          <a:ln w="57150" cap="flat">
            <a:solidFill>
              <a:srgbClr val="D4AF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41311" y="3683638"/>
            <a:ext cx="7876135" cy="221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0"/>
              </a:lnSpc>
            </a:pPr>
            <a:r>
              <a:rPr lang="en-US" sz="7900">
                <a:solidFill>
                  <a:srgbClr val="1B1B1B"/>
                </a:solidFill>
                <a:latin typeface="Neo Tech"/>
                <a:ea typeface="Neo Tech"/>
                <a:cs typeface="Neo Tech"/>
                <a:sym typeface="Neo Tech"/>
              </a:rPr>
              <a:t>THANK YOU FOR LISTENING!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5447" y="5732016"/>
            <a:ext cx="3962733" cy="613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94"/>
              </a:lnSpc>
              <a:spcBef>
                <a:spcPct val="0"/>
              </a:spcBef>
            </a:pPr>
            <a:r>
              <a:rPr lang="en-US" sz="3782" dirty="0">
                <a:solidFill>
                  <a:srgbClr val="323B43"/>
                </a:solidFill>
                <a:latin typeface="Neo Tech"/>
                <a:ea typeface="Neo Tech"/>
                <a:cs typeface="Neo Tech"/>
                <a:sym typeface="Neo Tech"/>
              </a:rPr>
              <a:t>Any Questions?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9680275" y="1784570"/>
            <a:ext cx="9952803" cy="7436992"/>
          </a:xfrm>
          <a:custGeom>
            <a:avLst/>
            <a:gdLst/>
            <a:ahLst/>
            <a:cxnLst/>
            <a:rect l="l" t="t" r="r" b="b"/>
            <a:pathLst>
              <a:path w="9952803" h="7436992">
                <a:moveTo>
                  <a:pt x="9952802" y="0"/>
                </a:moveTo>
                <a:lnTo>
                  <a:pt x="0" y="0"/>
                </a:lnTo>
                <a:lnTo>
                  <a:pt x="0" y="7436992"/>
                </a:lnTo>
                <a:lnTo>
                  <a:pt x="9952802" y="7436992"/>
                </a:lnTo>
                <a:lnTo>
                  <a:pt x="9952802" y="0"/>
                </a:lnTo>
                <a:close/>
              </a:path>
            </a:pathLst>
          </a:custGeom>
          <a:blipFill>
            <a:blip r:embed="rId4"/>
            <a:stretch>
              <a:fillRect l="-19407" t="-36028" r="-48194" b="-25092"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290</Words>
  <Application>Microsoft Office PowerPoint</Application>
  <PresentationFormat>Custom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Roboto</vt:lpstr>
      <vt:lpstr>Roboto Bold</vt:lpstr>
      <vt:lpstr>Inter</vt:lpstr>
      <vt:lpstr>Canva Sans</vt:lpstr>
      <vt:lpstr>Canva Sans Bold</vt:lpstr>
      <vt:lpstr>Neo Tech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Simple Clean Electric Vehicle Showcase Presentation</dc:title>
  <cp:lastModifiedBy>Mohamad Al Ayoubi</cp:lastModifiedBy>
  <cp:revision>5</cp:revision>
  <dcterms:created xsi:type="dcterms:W3CDTF">2006-08-16T00:00:00Z</dcterms:created>
  <dcterms:modified xsi:type="dcterms:W3CDTF">2026-03-28T19:11:51Z</dcterms:modified>
  <dc:identifier>DAHBBPBCeTY</dc:identifier>
</cp:coreProperties>
</file>